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1.png"/><Relationship Id="rId3" Type="http://schemas.openxmlformats.org/officeDocument/2006/relationships/image" Target="../media/image-18-1.png"/><Relationship Id="rId4" Type="http://schemas.openxmlformats.org/officeDocument/2006/relationships/image" Target="../media/image-18-1.png"/><Relationship Id="rId5" Type="http://schemas.openxmlformats.org/officeDocument/2006/relationships/image" Target="../media/image-18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4206240"/>
            <a:ext cx="4206240" cy="4206240"/>
          </a:xfrm>
          <a:prstGeom prst="ellipse">
            <a:avLst/>
          </a:prstGeom>
          <a:solidFill>
            <a:srgbClr val="0B3D62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5394960"/>
            <a:ext cx="2377440" cy="2377440"/>
          </a:xfrm>
          <a:prstGeom prst="ellipse">
            <a:avLst/>
          </a:prstGeom>
          <a:solidFill>
            <a:srgbClr val="1C7293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9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TEACHING SESSION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8778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Retrieval-Augmented</a:t>
            </a:r>
            <a:endParaRPr lang="en-US" sz="4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Generation (RAG)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language models real, up-to-date knowledge — and how to build it with LangChain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5074920"/>
            <a:ext cx="457200" cy="457200"/>
          </a:xfrm>
          <a:prstGeom prst="ellipse">
            <a:avLst/>
          </a:prstGeom>
          <a:solidFill>
            <a:srgbClr val="0B3D62"/>
          </a:solidFill>
          <a:ln/>
        </p:spPr>
      </p:sp>
      <p:pic>
        <p:nvPicPr>
          <p:cNvPr id="8" name="Image 0" descr="/home/claude/rag_deck/icons/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5189220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89888" y="5074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200400" y="5074920"/>
            <a:ext cx="457200" cy="457200"/>
          </a:xfrm>
          <a:prstGeom prst="ellipse">
            <a:avLst/>
          </a:prstGeom>
          <a:solidFill>
            <a:srgbClr val="0B3D62"/>
          </a:solidFill>
          <a:ln/>
        </p:spPr>
      </p:sp>
      <p:pic>
        <p:nvPicPr>
          <p:cNvPr id="11" name="Image 1" descr="/home/claude/rag_deck/icons/c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4700" y="518922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67328" y="5074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code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577840" y="5074920"/>
            <a:ext cx="457200" cy="457200"/>
          </a:xfrm>
          <a:prstGeom prst="ellipse">
            <a:avLst/>
          </a:prstGeom>
          <a:solidFill>
            <a:srgbClr val="0B3D62"/>
          </a:solidFill>
          <a:ln/>
        </p:spPr>
      </p:sp>
      <p:pic>
        <p:nvPicPr>
          <p:cNvPr id="14" name="Image 2" descr="/home/claude/rag_deck/icons/flas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2140" y="5189220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144768" y="5074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5F8FA"/>
          </a:solidFill>
          <a:ln/>
          <a:effectLst>
            <a:outerShdw sx="100000" sy="100000" kx="0" ky="0" algn="bl" rotWithShape="0" blurRad="76200" dist="25400" dir="5400000">
              <a:srgbClr val="1B2A38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25396"/>
            <a:ext cx="566928" cy="566928"/>
          </a:xfrm>
          <a:prstGeom prst="ellipse">
            <a:avLst/>
          </a:prstGeom>
          <a:solidFill>
            <a:srgbClr val="0B3D62"/>
          </a:solidFill>
          <a:ln/>
        </p:spPr>
      </p:sp>
      <p:pic>
        <p:nvPicPr>
          <p:cNvPr id="6" name="Image 0" descr="/home/claude/rag_deck/icons/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735" y="2161459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783080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6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Why do LLMs need RAG?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54480" y="2258568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cutoffs, hallucination, private data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09360" y="160020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5F8FA"/>
          </a:solidFill>
          <a:ln/>
          <a:effectLst>
            <a:outerShdw sx="100000" sy="100000" kx="0" ky="0" algn="bl" rotWithShape="0" blurRad="76200" dist="25400" dir="5400000">
              <a:srgbClr val="1B2A38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65392" y="2025396"/>
            <a:ext cx="566928" cy="566928"/>
          </a:xfrm>
          <a:prstGeom prst="ellipse">
            <a:avLst/>
          </a:prstGeom>
          <a:solidFill>
            <a:srgbClr val="0B3D62"/>
          </a:solidFill>
          <a:ln/>
        </p:spPr>
      </p:sp>
      <p:pic>
        <p:nvPicPr>
          <p:cNvPr id="11" name="Image 1" descr="/home/claude/rag_deck/icons/netwo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1455" y="2161459"/>
            <a:ext cx="294803" cy="294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1783080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6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RAG concepts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315200" y="2258568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&amp; query pipelines, embeddings, vector stores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273552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5F8FA"/>
          </a:solidFill>
          <a:ln/>
          <a:effectLst>
            <a:outerShdw sx="100000" sy="100000" kx="0" ky="0" algn="bl" rotWithShape="0" blurRad="76200" dist="25400" dir="5400000">
              <a:srgbClr val="1B2A38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698748"/>
            <a:ext cx="566928" cy="566928"/>
          </a:xfrm>
          <a:prstGeom prst="ellipse">
            <a:avLst/>
          </a:prstGeom>
          <a:solidFill>
            <a:srgbClr val="0B3D62"/>
          </a:solidFill>
          <a:ln/>
        </p:spPr>
      </p:sp>
      <p:pic>
        <p:nvPicPr>
          <p:cNvPr id="16" name="Image 2" descr="/home/claude/rag_deck/icons/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735" y="3834811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3456432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6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Chunking &amp; retrieval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554480" y="3931920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documents become searchable knowledge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309360" y="3273552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5F8FA"/>
          </a:solidFill>
          <a:ln/>
          <a:effectLst>
            <a:outerShdw sx="100000" sy="100000" kx="0" ky="0" algn="bl" rotWithShape="0" blurRad="76200" dist="25400" dir="5400000">
              <a:srgbClr val="1B2A38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65392" y="3698748"/>
            <a:ext cx="566928" cy="566928"/>
          </a:xfrm>
          <a:prstGeom prst="ellipse">
            <a:avLst/>
          </a:prstGeom>
          <a:solidFill>
            <a:srgbClr val="0B3D62"/>
          </a:solidFill>
          <a:ln/>
        </p:spPr>
      </p:sp>
      <p:pic>
        <p:nvPicPr>
          <p:cNvPr id="21" name="Image 3" descr="/home/claude/rag_deck/icons/cod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1455" y="3834811"/>
            <a:ext cx="294803" cy="29480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3456432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6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Building with LangChain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315200" y="3931920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Loaders, splitters, retrievers, chains — in code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4946904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5F8FA"/>
          </a:solidFill>
          <a:ln/>
          <a:effectLst>
            <a:outerShdw sx="100000" sy="100000" kx="0" ky="0" algn="bl" rotWithShape="0" blurRad="76200" dist="25400" dir="5400000">
              <a:srgbClr val="1B2A38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04672" y="5372100"/>
            <a:ext cx="566928" cy="566928"/>
          </a:xfrm>
          <a:prstGeom prst="ellipse">
            <a:avLst/>
          </a:prstGeom>
          <a:solidFill>
            <a:srgbClr val="0B3D62"/>
          </a:solidFill>
          <a:ln/>
        </p:spPr>
      </p:sp>
      <p:pic>
        <p:nvPicPr>
          <p:cNvPr id="26" name="Image 4" descr="/home/claude/rag_deck/icons/cog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735" y="5508163"/>
            <a:ext cx="294803" cy="29480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54480" y="5129784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6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Advanced techniques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1554480" y="5605272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Reranking, hybrid search, query rewriting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309360" y="4946904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5F8FA"/>
          </a:solidFill>
          <a:ln/>
          <a:effectLst>
            <a:outerShdw sx="100000" sy="100000" kx="0" ky="0" algn="bl" rotWithShape="0" blurRad="76200" dist="25400" dir="5400000">
              <a:srgbClr val="1B2A38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565392" y="5372100"/>
            <a:ext cx="566928" cy="566928"/>
          </a:xfrm>
          <a:prstGeom prst="ellipse">
            <a:avLst/>
          </a:prstGeom>
          <a:solidFill>
            <a:srgbClr val="0B3D62"/>
          </a:solidFill>
          <a:ln/>
        </p:spPr>
      </p:sp>
      <p:pic>
        <p:nvPicPr>
          <p:cNvPr id="31" name="Image 5" descr="/home/claude/rag_deck/icons/flas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1455" y="5508163"/>
            <a:ext cx="294803" cy="29480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315200" y="5129784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6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Hands-on lab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7315200" y="5605272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working RAG app together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Session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LLMs Alone Aren't Enough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LLM only knows what was in its training data — nothing after, and nothing private.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20440" cy="3566160"/>
          </a:xfrm>
          <a:prstGeom prst="roundRect">
            <a:avLst>
              <a:gd name="adj" fmla="val 2338"/>
            </a:avLst>
          </a:prstGeom>
          <a:solidFill>
            <a:srgbClr val="0B3D62"/>
          </a:solidFill>
          <a:ln/>
        </p:spPr>
      </p:sp>
      <p:sp>
        <p:nvSpPr>
          <p:cNvPr id="6" name="Shape 4"/>
          <p:cNvSpPr/>
          <p:nvPr/>
        </p:nvSpPr>
        <p:spPr>
          <a:xfrm>
            <a:off x="1920240" y="256032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/home/claude/rag_deck/icons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4550" y="2754630"/>
            <a:ext cx="388620" cy="3886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5661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Cutoff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4069080"/>
            <a:ext cx="28803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7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model's world froze on its training date. It cannot know about anything more recent — new products, prices, or events.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89120" y="2148840"/>
            <a:ext cx="3520440" cy="3566160"/>
          </a:xfrm>
          <a:prstGeom prst="roundRect">
            <a:avLst>
              <a:gd name="adj" fmla="val 2338"/>
            </a:avLst>
          </a:prstGeom>
          <a:solidFill>
            <a:srgbClr val="0B3D62"/>
          </a:solidFill>
          <a:ln/>
        </p:spPr>
      </p:sp>
      <p:sp>
        <p:nvSpPr>
          <p:cNvPr id="11" name="Shape 8"/>
          <p:cNvSpPr/>
          <p:nvPr/>
        </p:nvSpPr>
        <p:spPr>
          <a:xfrm>
            <a:off x="5760720" y="256032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/home/claude/rag_deck/icons/war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5030" y="2754630"/>
            <a:ext cx="388620" cy="3886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63440" y="35661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709160" y="4069080"/>
            <a:ext cx="28803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7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model doesn't know an answer, it can still generate a fluent, confident — and completely wrong — response.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229600" y="2148840"/>
            <a:ext cx="3520440" cy="3566160"/>
          </a:xfrm>
          <a:prstGeom prst="roundRect">
            <a:avLst>
              <a:gd name="adj" fmla="val 2338"/>
            </a:avLst>
          </a:prstGeom>
          <a:solidFill>
            <a:srgbClr val="0B3D62"/>
          </a:solidFill>
          <a:ln/>
        </p:spPr>
      </p:sp>
      <p:sp>
        <p:nvSpPr>
          <p:cNvPr id="16" name="Shape 12"/>
          <p:cNvSpPr/>
          <p:nvPr/>
        </p:nvSpPr>
        <p:spPr>
          <a:xfrm>
            <a:off x="9601200" y="256032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2" descr="/home/claude/rag_deck/icons/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5510" y="2754630"/>
            <a:ext cx="388620" cy="3886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03920" y="35661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Private Data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549640" y="4069080"/>
            <a:ext cx="28803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7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has never seen your company's documents, internal wikis, or customer records. It simply cannot answer questions about them.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Session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RAG?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pairs an LLM with an external knowledge source. Before answering, the system retrieves the most relevant pieces of information and hands them to the model as context.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1737360" cy="1188720"/>
          </a:xfrm>
          <a:prstGeom prst="roundRect">
            <a:avLst>
              <a:gd name="adj" fmla="val 6154"/>
            </a:avLst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1257300" y="3154680"/>
            <a:ext cx="502920" cy="50292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7" name="Image 0" descr="/home/claude/rag_deck/icons/comm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0457" y="3267837"/>
            <a:ext cx="276606" cy="27660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67588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063240" y="301752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0B3D62"/>
          </a:solidFill>
          <a:ln/>
        </p:spPr>
      </p:sp>
      <p:sp>
        <p:nvSpPr>
          <p:cNvPr id="10" name="Shape 7"/>
          <p:cNvSpPr/>
          <p:nvPr/>
        </p:nvSpPr>
        <p:spPr>
          <a:xfrm>
            <a:off x="3771900" y="3154680"/>
            <a:ext cx="502920" cy="50292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11" name="Image 1" descr="/home/claude/rag_deck/icons/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5057" y="3267837"/>
            <a:ext cx="276606" cy="27660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108960" y="367588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669280" y="3017520"/>
            <a:ext cx="1737360" cy="1188720"/>
          </a:xfrm>
          <a:prstGeom prst="roundRect">
            <a:avLst>
              <a:gd name="adj" fmla="val 6154"/>
            </a:avLst>
          </a:prstGeom>
          <a:solidFill>
            <a:srgbClr val="0B3D62"/>
          </a:solidFill>
          <a:ln/>
        </p:spPr>
      </p:sp>
      <p:sp>
        <p:nvSpPr>
          <p:cNvPr id="14" name="Shape 10"/>
          <p:cNvSpPr/>
          <p:nvPr/>
        </p:nvSpPr>
        <p:spPr>
          <a:xfrm>
            <a:off x="6286500" y="3154680"/>
            <a:ext cx="502920" cy="50292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15" name="Image 2" descr="/home/claude/rag_deck/icons/br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9657" y="3267837"/>
            <a:ext cx="276606" cy="27660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715000" y="367588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8092440" y="301752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1C7293"/>
          </a:solidFill>
          <a:ln/>
        </p:spPr>
      </p:sp>
      <p:sp>
        <p:nvSpPr>
          <p:cNvPr id="18" name="Shape 13"/>
          <p:cNvSpPr/>
          <p:nvPr/>
        </p:nvSpPr>
        <p:spPr>
          <a:xfrm>
            <a:off x="8801100" y="3154680"/>
            <a:ext cx="502920" cy="50292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19" name="Image 3" descr="/home/claude/rag_deck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4257" y="3267837"/>
            <a:ext cx="276606" cy="27660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138160" y="367588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2432304" y="3529584"/>
            <a:ext cx="576072" cy="164592"/>
          </a:xfrm>
          <a:prstGeom prst="rightArrow">
            <a:avLst/>
          </a:prstGeom>
          <a:solidFill>
            <a:srgbClr val="5C7181"/>
          </a:solidFill>
          <a:ln/>
        </p:spPr>
      </p:sp>
      <p:sp>
        <p:nvSpPr>
          <p:cNvPr id="22" name="Shape 16"/>
          <p:cNvSpPr/>
          <p:nvPr/>
        </p:nvSpPr>
        <p:spPr>
          <a:xfrm>
            <a:off x="5038344" y="3529584"/>
            <a:ext cx="576072" cy="164592"/>
          </a:xfrm>
          <a:prstGeom prst="rightArrow">
            <a:avLst/>
          </a:prstGeom>
          <a:solidFill>
            <a:srgbClr val="5C7181"/>
          </a:solidFill>
          <a:ln/>
        </p:spPr>
      </p:sp>
      <p:sp>
        <p:nvSpPr>
          <p:cNvPr id="23" name="Shape 17"/>
          <p:cNvSpPr/>
          <p:nvPr/>
        </p:nvSpPr>
        <p:spPr>
          <a:xfrm>
            <a:off x="7461504" y="3529584"/>
            <a:ext cx="576072" cy="164592"/>
          </a:xfrm>
          <a:prstGeom prst="rightArrow">
            <a:avLst/>
          </a:prstGeom>
          <a:solidFill>
            <a:srgbClr val="5C7181"/>
          </a:solidFill>
          <a:ln/>
        </p:spPr>
      </p:sp>
      <p:sp>
        <p:nvSpPr>
          <p:cNvPr id="24" name="Shape 18"/>
          <p:cNvSpPr/>
          <p:nvPr/>
        </p:nvSpPr>
        <p:spPr>
          <a:xfrm>
            <a:off x="2743200" y="4709160"/>
            <a:ext cx="2560320" cy="868680"/>
          </a:xfrm>
          <a:prstGeom prst="roundRect">
            <a:avLst>
              <a:gd name="adj" fmla="val 8421"/>
            </a:avLst>
          </a:prstGeom>
          <a:solidFill>
            <a:srgbClr val="F5F8FA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2907792" y="4873752"/>
            <a:ext cx="530352" cy="530352"/>
          </a:xfrm>
          <a:prstGeom prst="ellipse">
            <a:avLst/>
          </a:prstGeom>
          <a:solidFill>
            <a:srgbClr val="E8964F"/>
          </a:solidFill>
          <a:ln/>
        </p:spPr>
      </p:sp>
      <p:pic>
        <p:nvPicPr>
          <p:cNvPr id="26" name="Image 4" descr="/home/claude/rag_deck/icons/databas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7121" y="4993081"/>
            <a:ext cx="291694" cy="29169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566160" y="4709160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6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(your documents)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4023360" y="4206240"/>
            <a:ext cx="914" cy="502920"/>
          </a:xfrm>
          <a:prstGeom prst="line">
            <a:avLst/>
          </a:prstGeom>
          <a:noFill/>
          <a:ln w="19050">
            <a:solidFill>
              <a:srgbClr val="5C7181"/>
            </a:solidFill>
            <a:prstDash val="dash"/>
          </a:ln>
        </p:spPr>
      </p:sp>
      <p:sp>
        <p:nvSpPr>
          <p:cNvPr id="29" name="Text 22"/>
          <p:cNvSpPr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retriever searches the knowledge base and pulls back only the passages relevant to the question — the LLM then reasons over that context instead of guessing from memory alone.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Session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AN APPROACH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vs. Fine-Tuning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594360"/>
          </a:xfrm>
          <a:prstGeom prst="roundRect">
            <a:avLst>
              <a:gd name="adj" fmla="val 9231"/>
            </a:avLst>
          </a:prstGeom>
          <a:solidFill>
            <a:srgbClr val="0B3D6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291840" y="1600200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9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52360" y="1600200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11064240" cy="777240"/>
          </a:xfrm>
          <a:prstGeom prst="rect">
            <a:avLst/>
          </a:prstGeom>
          <a:solidFill>
            <a:srgbClr val="F5F8FA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9456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Updating knowledge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429000" y="2194560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Add/edit documents — instant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589520" y="2194560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the model — slow &amp; costly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11064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97180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transparency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429000" y="2971800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cite exact retrieved passages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589520" y="2971800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is baked into weights, opaque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11064240" cy="777240"/>
          </a:xfrm>
          <a:prstGeom prst="rect">
            <a:avLst/>
          </a:prstGeom>
          <a:solidFill>
            <a:srgbClr val="F5F8FA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7490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set up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429000" y="3749040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— no model training required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589520" y="3749040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needs GPUs, data, expertise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526280"/>
            <a:ext cx="11064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52628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429000" y="4526280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Fast-changing or private knowledge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589520" y="4526280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new skills, tone, or format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303520"/>
            <a:ext cx="11064240" cy="777240"/>
          </a:xfrm>
          <a:prstGeom prst="rect">
            <a:avLst/>
          </a:prstGeom>
          <a:solidFill>
            <a:srgbClr val="F5F8FA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530352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of stale answers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429000" y="5303520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— always reads latest data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589520" y="5303520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frozen at training time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Session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OFFLINE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Indexing Pipeline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question is asked, your documents are prepared once and stored for fast search.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2377440"/>
            <a:ext cx="2331720" cy="2377440"/>
          </a:xfrm>
          <a:prstGeom prst="roundRect">
            <a:avLst>
              <a:gd name="adj" fmla="val 3529"/>
            </a:avLst>
          </a:prstGeom>
          <a:solidFill>
            <a:srgbClr val="0B3D6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4688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C6E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508760" y="2880360"/>
            <a:ext cx="685800" cy="68580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8" name="Image 0" descr="/home/claude/rag_deck/icons/filea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3065" y="3034665"/>
            <a:ext cx="377190" cy="37719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374904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68680" y="413308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5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PDFs, web pages, or docs into raw text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072384" y="3465576"/>
            <a:ext cx="393192" cy="201168"/>
          </a:xfrm>
          <a:prstGeom prst="rightArrow">
            <a:avLst/>
          </a:prstGeom>
          <a:solidFill>
            <a:srgbClr val="5C7181"/>
          </a:solidFill>
          <a:ln/>
        </p:spPr>
      </p:sp>
      <p:sp>
        <p:nvSpPr>
          <p:cNvPr id="12" name="Shape 9"/>
          <p:cNvSpPr/>
          <p:nvPr/>
        </p:nvSpPr>
        <p:spPr>
          <a:xfrm>
            <a:off x="3520440" y="2377440"/>
            <a:ext cx="2331720" cy="2377440"/>
          </a:xfrm>
          <a:prstGeom prst="roundRect">
            <a:avLst>
              <a:gd name="adj" fmla="val 3529"/>
            </a:avLst>
          </a:prstGeom>
          <a:solidFill>
            <a:srgbClr val="1C7293"/>
          </a:solidFill>
          <a:ln/>
        </p:spPr>
      </p:sp>
      <p:sp>
        <p:nvSpPr>
          <p:cNvPr id="13" name="Text 10"/>
          <p:cNvSpPr/>
          <p:nvPr/>
        </p:nvSpPr>
        <p:spPr>
          <a:xfrm>
            <a:off x="3657600" y="24688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9C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4343400" y="2880360"/>
            <a:ext cx="685800" cy="68580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15" name="Image 1" descr="/home/claude/rag_deck/icon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7705" y="3034665"/>
            <a:ext cx="377190" cy="37719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657600" y="374904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3703320" y="413308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5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text into small, overlapping chunks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907024" y="3465576"/>
            <a:ext cx="393192" cy="201168"/>
          </a:xfrm>
          <a:prstGeom prst="rightArrow">
            <a:avLst/>
          </a:prstGeom>
          <a:solidFill>
            <a:srgbClr val="5C7181"/>
          </a:solidFill>
          <a:ln/>
        </p:spPr>
      </p:sp>
      <p:sp>
        <p:nvSpPr>
          <p:cNvPr id="19" name="Shape 15"/>
          <p:cNvSpPr/>
          <p:nvPr/>
        </p:nvSpPr>
        <p:spPr>
          <a:xfrm>
            <a:off x="6355080" y="2377440"/>
            <a:ext cx="2331720" cy="2377440"/>
          </a:xfrm>
          <a:prstGeom prst="roundRect">
            <a:avLst>
              <a:gd name="adj" fmla="val 3529"/>
            </a:avLst>
          </a:prstGeom>
          <a:solidFill>
            <a:srgbClr val="0B3D62"/>
          </a:solidFill>
          <a:ln/>
        </p:spPr>
      </p:sp>
      <p:sp>
        <p:nvSpPr>
          <p:cNvPr id="20" name="Text 16"/>
          <p:cNvSpPr/>
          <p:nvPr/>
        </p:nvSpPr>
        <p:spPr>
          <a:xfrm>
            <a:off x="6492240" y="24688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C6E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7178040" y="2880360"/>
            <a:ext cx="685800" cy="68580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22" name="Image 2" descr="/home/claude/rag_deck/icons/netwo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2345" y="3034665"/>
            <a:ext cx="377190" cy="37719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492240" y="374904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6537960" y="413308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5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each chunk into a numeric vector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8741664" y="3465576"/>
            <a:ext cx="393192" cy="201168"/>
          </a:xfrm>
          <a:prstGeom prst="rightArrow">
            <a:avLst/>
          </a:prstGeom>
          <a:solidFill>
            <a:srgbClr val="5C7181"/>
          </a:solidFill>
          <a:ln/>
        </p:spPr>
      </p:sp>
      <p:sp>
        <p:nvSpPr>
          <p:cNvPr id="26" name="Shape 21"/>
          <p:cNvSpPr/>
          <p:nvPr/>
        </p:nvSpPr>
        <p:spPr>
          <a:xfrm>
            <a:off x="9189720" y="2377440"/>
            <a:ext cx="2331720" cy="2377440"/>
          </a:xfrm>
          <a:prstGeom prst="roundRect">
            <a:avLst>
              <a:gd name="adj" fmla="val 3529"/>
            </a:avLst>
          </a:prstGeom>
          <a:solidFill>
            <a:srgbClr val="1C7293"/>
          </a:solidFill>
          <a:ln/>
        </p:spPr>
      </p:sp>
      <p:sp>
        <p:nvSpPr>
          <p:cNvPr id="27" name="Text 22"/>
          <p:cNvSpPr/>
          <p:nvPr/>
        </p:nvSpPr>
        <p:spPr>
          <a:xfrm>
            <a:off x="9326880" y="24688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9C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Shape 23"/>
          <p:cNvSpPr/>
          <p:nvPr/>
        </p:nvSpPr>
        <p:spPr>
          <a:xfrm>
            <a:off x="10012680" y="2880360"/>
            <a:ext cx="685800" cy="68580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29" name="Image 3" descr="/home/claude/rag_deck/icons/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6985" y="3034665"/>
            <a:ext cx="377190" cy="37719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326880" y="374904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9372600" y="413308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5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vectors in a vector database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Session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ONLINE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Query Pipeline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time a user asks a question, this happens in real time, in a fraction of a second.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94360" y="2377440"/>
            <a:ext cx="1847088" cy="2377440"/>
          </a:xfrm>
          <a:prstGeom prst="roundRect">
            <a:avLst>
              <a:gd name="adj" fmla="val 4455"/>
            </a:avLst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1220724" y="2651760"/>
            <a:ext cx="594360" cy="59436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7" name="Image 0" descr="/home/claude/rag_deck/icons/comm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4455" y="2785491"/>
            <a:ext cx="326898" cy="32689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429000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13232" y="3822192"/>
            <a:ext cx="16093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5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asks something in natural language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468880" y="3483864"/>
            <a:ext cx="256032" cy="164592"/>
          </a:xfrm>
          <a:prstGeom prst="rightArrow">
            <a:avLst/>
          </a:prstGeom>
          <a:solidFill>
            <a:srgbClr val="5C7181"/>
          </a:solidFill>
          <a:ln/>
        </p:spPr>
      </p:sp>
      <p:sp>
        <p:nvSpPr>
          <p:cNvPr id="11" name="Shape 8"/>
          <p:cNvSpPr/>
          <p:nvPr/>
        </p:nvSpPr>
        <p:spPr>
          <a:xfrm>
            <a:off x="2752344" y="2377440"/>
            <a:ext cx="1847088" cy="2377440"/>
          </a:xfrm>
          <a:prstGeom prst="roundRect">
            <a:avLst>
              <a:gd name="adj" fmla="val 4455"/>
            </a:avLst>
          </a:prstGeom>
          <a:solidFill>
            <a:srgbClr val="0B3D62"/>
          </a:solidFill>
          <a:ln/>
        </p:spPr>
      </p:sp>
      <p:sp>
        <p:nvSpPr>
          <p:cNvPr id="12" name="Shape 9"/>
          <p:cNvSpPr/>
          <p:nvPr/>
        </p:nvSpPr>
        <p:spPr>
          <a:xfrm>
            <a:off x="3378708" y="2651760"/>
            <a:ext cx="594360" cy="59436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13" name="Image 1" descr="/home/claude/rag_deck/icons/netwo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2439" y="2785491"/>
            <a:ext cx="326898" cy="32689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843784" y="3429000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2871216" y="3822192"/>
            <a:ext cx="16093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5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is turned into a vector, too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626864" y="3483864"/>
            <a:ext cx="256032" cy="164592"/>
          </a:xfrm>
          <a:prstGeom prst="rightArrow">
            <a:avLst/>
          </a:prstGeom>
          <a:solidFill>
            <a:srgbClr val="5C7181"/>
          </a:solidFill>
          <a:ln/>
        </p:spPr>
      </p:sp>
      <p:sp>
        <p:nvSpPr>
          <p:cNvPr id="17" name="Shape 13"/>
          <p:cNvSpPr/>
          <p:nvPr/>
        </p:nvSpPr>
        <p:spPr>
          <a:xfrm>
            <a:off x="4910328" y="2377440"/>
            <a:ext cx="1847088" cy="2377440"/>
          </a:xfrm>
          <a:prstGeom prst="roundRect">
            <a:avLst>
              <a:gd name="adj" fmla="val 4455"/>
            </a:avLst>
          </a:prstGeom>
          <a:solidFill>
            <a:srgbClr val="1C7293"/>
          </a:solidFill>
          <a:ln/>
        </p:spPr>
      </p:sp>
      <p:sp>
        <p:nvSpPr>
          <p:cNvPr id="18" name="Shape 14"/>
          <p:cNvSpPr/>
          <p:nvPr/>
        </p:nvSpPr>
        <p:spPr>
          <a:xfrm>
            <a:off x="5536692" y="2651760"/>
            <a:ext cx="594360" cy="59436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19" name="Image 2" descr="/home/claude/rag_deck/icons/se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0423" y="2785491"/>
            <a:ext cx="326898" cy="32689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001768" y="3429000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5029200" y="3822192"/>
            <a:ext cx="16093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5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most similar chunks are fetched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6784848" y="3483864"/>
            <a:ext cx="256032" cy="164592"/>
          </a:xfrm>
          <a:prstGeom prst="rightArrow">
            <a:avLst/>
          </a:prstGeom>
          <a:solidFill>
            <a:srgbClr val="5C7181"/>
          </a:solidFill>
          <a:ln/>
        </p:spPr>
      </p:sp>
      <p:sp>
        <p:nvSpPr>
          <p:cNvPr id="23" name="Shape 18"/>
          <p:cNvSpPr/>
          <p:nvPr/>
        </p:nvSpPr>
        <p:spPr>
          <a:xfrm>
            <a:off x="7068312" y="2377440"/>
            <a:ext cx="1847088" cy="2377440"/>
          </a:xfrm>
          <a:prstGeom prst="roundRect">
            <a:avLst>
              <a:gd name="adj" fmla="val 4455"/>
            </a:avLst>
          </a:prstGeom>
          <a:solidFill>
            <a:srgbClr val="0B3D62"/>
          </a:solidFill>
          <a:ln/>
        </p:spPr>
      </p:sp>
      <p:sp>
        <p:nvSpPr>
          <p:cNvPr id="24" name="Shape 19"/>
          <p:cNvSpPr/>
          <p:nvPr/>
        </p:nvSpPr>
        <p:spPr>
          <a:xfrm>
            <a:off x="7694676" y="2651760"/>
            <a:ext cx="594360" cy="59436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25" name="Image 3" descr="/home/claude/rag_deck/icons/lay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8407" y="2785491"/>
            <a:ext cx="326898" cy="32689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159752" y="3429000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7187184" y="3822192"/>
            <a:ext cx="16093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5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chunks are added to the prompt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8942832" y="3483864"/>
            <a:ext cx="256032" cy="164592"/>
          </a:xfrm>
          <a:prstGeom prst="rightArrow">
            <a:avLst/>
          </a:prstGeom>
          <a:solidFill>
            <a:srgbClr val="5C7181"/>
          </a:solidFill>
          <a:ln/>
        </p:spPr>
      </p:sp>
      <p:sp>
        <p:nvSpPr>
          <p:cNvPr id="29" name="Shape 23"/>
          <p:cNvSpPr/>
          <p:nvPr/>
        </p:nvSpPr>
        <p:spPr>
          <a:xfrm>
            <a:off x="9226296" y="2377440"/>
            <a:ext cx="1847088" cy="2377440"/>
          </a:xfrm>
          <a:prstGeom prst="roundRect">
            <a:avLst>
              <a:gd name="adj" fmla="val 4455"/>
            </a:avLst>
          </a:prstGeom>
          <a:solidFill>
            <a:srgbClr val="1C7293"/>
          </a:solidFill>
          <a:ln/>
        </p:spPr>
      </p:sp>
      <p:sp>
        <p:nvSpPr>
          <p:cNvPr id="30" name="Shape 24"/>
          <p:cNvSpPr/>
          <p:nvPr/>
        </p:nvSpPr>
        <p:spPr>
          <a:xfrm>
            <a:off x="9852660" y="2651760"/>
            <a:ext cx="594360" cy="59436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31" name="Image 4" descr="/home/claude/rag_deck/icons/brai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6391" y="2785491"/>
            <a:ext cx="326898" cy="32689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317736" y="3429000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350" dirty="0"/>
          </a:p>
        </p:txBody>
      </p:sp>
      <p:sp>
        <p:nvSpPr>
          <p:cNvPr id="33" name="Text 26"/>
          <p:cNvSpPr/>
          <p:nvPr/>
        </p:nvSpPr>
        <p:spPr>
          <a:xfrm>
            <a:off x="9345168" y="3822192"/>
            <a:ext cx="16093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5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answers using that context</a:t>
            </a:r>
            <a:endParaRPr lang="en-US" sz="950" dirty="0"/>
          </a:p>
        </p:txBody>
      </p:sp>
      <p:sp>
        <p:nvSpPr>
          <p:cNvPr id="34" name="Text 2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Session</a:t>
            </a:r>
            <a:endParaRPr lang="en-US" sz="1000" dirty="0"/>
          </a:p>
        </p:txBody>
      </p:sp>
      <p:sp>
        <p:nvSpPr>
          <p:cNvPr id="35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DOCUMENTS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Chunking Strategies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are too large to embed whole, so they're split into smaller pieces first. The strategy matters — bad splits break context mid-sentence.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5F8FA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233172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1060704" y="2258568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Fixed-Size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" y="265176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every N characters/tokens with a small overlap. Simple and fast, but can cut sentences in half.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214884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5F8FA"/>
          </a:solidFill>
          <a:ln/>
        </p:spPr>
      </p:sp>
      <p:sp>
        <p:nvSpPr>
          <p:cNvPr id="10" name="Shape 8"/>
          <p:cNvSpPr/>
          <p:nvPr/>
        </p:nvSpPr>
        <p:spPr>
          <a:xfrm>
            <a:off x="4645152" y="2331720"/>
            <a:ext cx="146304" cy="146304"/>
          </a:xfrm>
          <a:prstGeom prst="ellipse">
            <a:avLst/>
          </a:prstGeom>
          <a:solidFill>
            <a:srgbClr val="E8964F"/>
          </a:solidFill>
          <a:ln/>
        </p:spPr>
      </p:sp>
      <p:sp>
        <p:nvSpPr>
          <p:cNvPr id="11" name="Text 9"/>
          <p:cNvSpPr/>
          <p:nvPr/>
        </p:nvSpPr>
        <p:spPr>
          <a:xfrm>
            <a:off x="4901184" y="2258568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45152" y="265176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paragraph, then sentence, then word boundaries — falls back gracefully. LangChain's default choice.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0" y="214884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5F8FA"/>
          </a:solidFill>
          <a:ln/>
        </p:spPr>
      </p:sp>
      <p:sp>
        <p:nvSpPr>
          <p:cNvPr id="14" name="Shape 12"/>
          <p:cNvSpPr/>
          <p:nvPr/>
        </p:nvSpPr>
        <p:spPr>
          <a:xfrm>
            <a:off x="8485632" y="233172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8741664" y="2258568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85632" y="265176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where meaning actually shifts, using embedding similarity between sentences. More accurate, more compute.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977640"/>
            <a:ext cx="11064240" cy="2331720"/>
          </a:xfrm>
          <a:prstGeom prst="roundRect">
            <a:avLst>
              <a:gd name="adj" fmla="val 3137"/>
            </a:avLst>
          </a:prstGeom>
          <a:solidFill>
            <a:srgbClr val="07223A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178808"/>
            <a:ext cx="104241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8F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4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langchain_text_splitters 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8F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4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RecursiveCharacterTextSplitter
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2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splitter 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8F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4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RecursiveCharacterTextSplitter(
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2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chunk_size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8F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9BE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2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
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2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chunk_overlap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8F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9BE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2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
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2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
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2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chunks 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8F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4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splitter.split_documents(documents)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Session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TEXT INTO NUMBERS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embedding model maps a piece of text to a vector of numbers, positioned so that texts with similar meaning end up close together in that space.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60350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idea, different words → vectors land close together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is measured with cosine distance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 OpenAI text-embedding-3, BGE, E5, Cohere Embed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documents and questions are embedded the same way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0" y="1737360"/>
            <a:ext cx="4206240" cy="4480560"/>
          </a:xfrm>
          <a:prstGeom prst="roundRect">
            <a:avLst>
              <a:gd name="adj" fmla="val 1739"/>
            </a:avLst>
          </a:prstGeom>
          <a:solidFill>
            <a:srgbClr val="F5F8FA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0" y="190195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C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Space (simplified)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001000" y="2606040"/>
            <a:ext cx="1371600" cy="1371600"/>
          </a:xfrm>
          <a:prstGeom prst="ellipse">
            <a:avLst/>
          </a:prstGeom>
          <a:solidFill>
            <a:srgbClr val="1C7293">
              <a:alpha val="12000"/>
            </a:srgbClr>
          </a:solidFill>
          <a:ln w="12700">
            <a:solidFill>
              <a:srgbClr val="1C7293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9646920" y="4389120"/>
            <a:ext cx="1371600" cy="1371600"/>
          </a:xfrm>
          <a:prstGeom prst="ellipse">
            <a:avLst/>
          </a:prstGeom>
          <a:solidFill>
            <a:srgbClr val="E8964F">
              <a:alpha val="12000"/>
            </a:srgbClr>
          </a:solidFill>
          <a:ln w="12700">
            <a:solidFill>
              <a:srgbClr val="E8964F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8366760" y="292608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7909560" y="30906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"dog"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732520" y="324612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8275320" y="341071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"puppy"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561320" y="4069080"/>
            <a:ext cx="146304" cy="146304"/>
          </a:xfrm>
          <a:prstGeom prst="ellipse">
            <a:avLst/>
          </a:prstGeom>
          <a:solidFill>
            <a:srgbClr val="0B3D62"/>
          </a:solidFill>
          <a:ln/>
        </p:spPr>
      </p:sp>
      <p:sp>
        <p:nvSpPr>
          <p:cNvPr id="15" name="Text 13"/>
          <p:cNvSpPr/>
          <p:nvPr/>
        </p:nvSpPr>
        <p:spPr>
          <a:xfrm>
            <a:off x="10104120" y="42336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"cat"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378440" y="4983480"/>
            <a:ext cx="146304" cy="146304"/>
          </a:xfrm>
          <a:prstGeom prst="ellipse">
            <a:avLst/>
          </a:prstGeom>
          <a:solidFill>
            <a:srgbClr val="E8964F"/>
          </a:solidFill>
          <a:ln/>
        </p:spPr>
      </p:sp>
      <p:sp>
        <p:nvSpPr>
          <p:cNvPr id="17" name="Text 15"/>
          <p:cNvSpPr/>
          <p:nvPr/>
        </p:nvSpPr>
        <p:spPr>
          <a:xfrm>
            <a:off x="9921240" y="51480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"car"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012680" y="4663440"/>
            <a:ext cx="146304" cy="146304"/>
          </a:xfrm>
          <a:prstGeom prst="ellipse">
            <a:avLst/>
          </a:prstGeom>
          <a:solidFill>
            <a:srgbClr val="E8964F"/>
          </a:solidFill>
          <a:ln/>
        </p:spPr>
      </p:sp>
      <p:sp>
        <p:nvSpPr>
          <p:cNvPr id="19" name="Text 17"/>
          <p:cNvSpPr/>
          <p:nvPr/>
        </p:nvSpPr>
        <p:spPr>
          <a:xfrm>
            <a:off x="9555480" y="482803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"vehicle"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498080" y="57150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meanings cluster together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Session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STORING &amp; SEARCHING VECTORS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 Databases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vector store indexes embeddings so similarity search stays fast even across millions of chunks.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606040" cy="2651760"/>
          </a:xfrm>
          <a:prstGeom prst="roundRect">
            <a:avLst>
              <a:gd name="adj" fmla="val 3158"/>
            </a:avLst>
          </a:prstGeom>
          <a:solidFill>
            <a:srgbClr val="0B3D62"/>
          </a:solidFill>
          <a:ln/>
        </p:spPr>
      </p:sp>
      <p:sp>
        <p:nvSpPr>
          <p:cNvPr id="6" name="Shape 4"/>
          <p:cNvSpPr/>
          <p:nvPr/>
        </p:nvSpPr>
        <p:spPr>
          <a:xfrm>
            <a:off x="1531620" y="24688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/home/claude/rag_deck/icons/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262890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2918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3685032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7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Local, in-memory library from Meta. Great for prototyping and small-to-medium datasets.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410712" y="2148840"/>
            <a:ext cx="2606040" cy="2651760"/>
          </a:xfrm>
          <a:prstGeom prst="roundRect">
            <a:avLst>
              <a:gd name="adj" fmla="val 3158"/>
            </a:avLst>
          </a:prstGeom>
          <a:solidFill>
            <a:srgbClr val="0B3D62"/>
          </a:solidFill>
          <a:ln/>
        </p:spPr>
      </p:sp>
      <p:sp>
        <p:nvSpPr>
          <p:cNvPr id="11" name="Shape 8"/>
          <p:cNvSpPr/>
          <p:nvPr/>
        </p:nvSpPr>
        <p:spPr>
          <a:xfrm>
            <a:off x="4393692" y="24688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/home/claude/rag_deck/icon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712" y="262890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47872" y="32918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593592" y="3685032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7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open-source vector DB with simple persistence — a favorite for LangChain demos.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272784" y="2148840"/>
            <a:ext cx="2606040" cy="2651760"/>
          </a:xfrm>
          <a:prstGeom prst="roundRect">
            <a:avLst>
              <a:gd name="adj" fmla="val 3158"/>
            </a:avLst>
          </a:prstGeom>
          <a:solidFill>
            <a:srgbClr val="0B3D62"/>
          </a:solidFill>
          <a:ln/>
        </p:spPr>
      </p:sp>
      <p:sp>
        <p:nvSpPr>
          <p:cNvPr id="16" name="Shape 12"/>
          <p:cNvSpPr/>
          <p:nvPr/>
        </p:nvSpPr>
        <p:spPr>
          <a:xfrm>
            <a:off x="7255764" y="24688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2" descr="/home/claude/rag_deck/icons/netwo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5784" y="262890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09944" y="32918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55664" y="3685032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7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managed, cloud-hosted vector DB built for production scale and low-latency search.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9134856" y="2148840"/>
            <a:ext cx="2606040" cy="2651760"/>
          </a:xfrm>
          <a:prstGeom prst="roundRect">
            <a:avLst>
              <a:gd name="adj" fmla="val 3158"/>
            </a:avLst>
          </a:prstGeom>
          <a:solidFill>
            <a:srgbClr val="0B3D62"/>
          </a:solidFill>
          <a:ln/>
        </p:spPr>
      </p:sp>
      <p:sp>
        <p:nvSpPr>
          <p:cNvPr id="21" name="Shape 16"/>
          <p:cNvSpPr/>
          <p:nvPr/>
        </p:nvSpPr>
        <p:spPr>
          <a:xfrm>
            <a:off x="10117836" y="24688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3" descr="/home/claude/rag_deck/icons/cog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7856" y="262890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2016" y="32918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Weaviate / Qdrant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9317736" y="3685032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7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Open-source, self-hostable options with hybrid search and rich metadata filtering.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Session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LangChain Building Blocks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provides ready-made, swappable components for every stage of the RAG pipeline.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5F8FA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3774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/home/claude/rag_deck/icons/filea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2509114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35000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Loaders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04672" y="306324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PyPDFLoader, WebBaseLoader, CSVLoader...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89120" y="21488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5F8FA"/>
          </a:solidFill>
          <a:ln/>
        </p:spPr>
      </p:sp>
      <p:sp>
        <p:nvSpPr>
          <p:cNvPr id="11" name="Shape 8"/>
          <p:cNvSpPr/>
          <p:nvPr/>
        </p:nvSpPr>
        <p:spPr>
          <a:xfrm>
            <a:off x="4617720" y="23774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/home/claude/rag_deck/icon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394" y="2509114"/>
            <a:ext cx="285293" cy="2852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03520" y="235000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Splitters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645152" y="306324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RecursiveCharacterTextSplitter and more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229600" y="21488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5F8FA"/>
          </a:solidFill>
          <a:ln/>
        </p:spPr>
      </p:sp>
      <p:sp>
        <p:nvSpPr>
          <p:cNvPr id="16" name="Shape 12"/>
          <p:cNvSpPr/>
          <p:nvPr/>
        </p:nvSpPr>
        <p:spPr>
          <a:xfrm>
            <a:off x="8458200" y="23774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2" descr="/home/claude/rag_deck/icons/netwo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9874" y="2509114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44000" y="235000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8485632" y="306324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OpenAIEmbeddings, HuggingFaceEmbeddings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8640" y="416052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5F8FA"/>
          </a:solidFill>
          <a:ln/>
        </p:spPr>
      </p:sp>
      <p:sp>
        <p:nvSpPr>
          <p:cNvPr id="21" name="Shape 16"/>
          <p:cNvSpPr/>
          <p:nvPr/>
        </p:nvSpPr>
        <p:spPr>
          <a:xfrm>
            <a:off x="777240" y="43891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3" descr="/home/claude/rag_deck/icons/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914" y="4520794"/>
            <a:ext cx="285293" cy="28529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63040" y="436168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804672" y="507492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Chroma, FAISS, Pinecone integrations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389120" y="416052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5F8FA"/>
          </a:solidFill>
          <a:ln/>
        </p:spPr>
      </p:sp>
      <p:sp>
        <p:nvSpPr>
          <p:cNvPr id="26" name="Shape 20"/>
          <p:cNvSpPr/>
          <p:nvPr/>
        </p:nvSpPr>
        <p:spPr>
          <a:xfrm>
            <a:off x="4617720" y="43891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7" name="Image 4" descr="/home/claude/rag_deck/icons/searc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9394" y="4520794"/>
            <a:ext cx="285293" cy="285293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303520" y="436168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Retrievers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4645152" y="507492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similarity, MMR, self-query, multi-query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8229600" y="416052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5F8FA"/>
          </a:solidFill>
          <a:ln/>
        </p:spPr>
      </p:sp>
      <p:sp>
        <p:nvSpPr>
          <p:cNvPr id="31" name="Shape 24"/>
          <p:cNvSpPr/>
          <p:nvPr/>
        </p:nvSpPr>
        <p:spPr>
          <a:xfrm>
            <a:off x="8458200" y="43891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2" name="Image 5" descr="/home/claude/rag_deck/icons/lin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9874" y="4520794"/>
            <a:ext cx="285293" cy="285293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144000" y="436168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 / LCEL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8485632" y="507492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steps with the | pipe operator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Session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&amp; Split Documents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raw files into clean, retrieval-sized chunks.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064240" cy="4434840"/>
          </a:xfrm>
          <a:prstGeom prst="roundRect">
            <a:avLst>
              <a:gd name="adj" fmla="val 1649"/>
            </a:avLst>
          </a:prstGeom>
          <a:solidFill>
            <a:srgbClr val="07223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21408"/>
            <a:ext cx="104241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8F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4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langchain_community.document_loaders 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8F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4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PyPDFLoader
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8F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4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langchain_text_splitters 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8F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4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RecursiveCharacterTextSplitter
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9DB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Load the raw document
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2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loader 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8F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4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PyPDFLoader(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"course_notes.pdf"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2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
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2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documents 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8F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4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loader.load()
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9DB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Split into overlapping chunks
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2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splitter 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8F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4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RecursiveCharacterTextSplitter(
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2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chunk_size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8F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9BE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2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 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2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chunk_overlap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8F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9BE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2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2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
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2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chunks 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8F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4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splitter.split_documents(documents)
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8F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2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f"Loaded {len(chunks)} chunks"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2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Session — LangChain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 &amp; Store in a Vector DB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chunks to vectors and index them for similarity search.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064240" cy="4434840"/>
          </a:xfrm>
          <a:prstGeom prst="roundRect">
            <a:avLst>
              <a:gd name="adj" fmla="val 1649"/>
            </a:avLst>
          </a:prstGeom>
          <a:solidFill>
            <a:srgbClr val="07223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21408"/>
            <a:ext cx="104241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8F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4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langchain_openai 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8F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4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OpenAIEmbeddings
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8F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4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langchain_chroma 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8F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4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Chroma
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9DB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Choose an embedding model
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2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embeddings 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8F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4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OpenAIEmbeddings(model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8F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"text-embedding-3-small"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2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
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9DB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Embed each chunk &amp; store it in Chroma
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2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vector_store 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8F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4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Chroma.from_documents(
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2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documents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8F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2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chunks,
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2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embedding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8F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2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embeddings,
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2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persist_directory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8F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"./chroma_db"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2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
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2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
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9DB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Turn the store into a retriever
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2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retriever 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8F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4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vector_store.as_retriever(
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2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search_kwargs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8F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={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"k"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2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9BE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2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
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2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Session — LangChain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Retrieval Chain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the retriever and the LLM together with LangChain Expression Language (LCEL).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064240" cy="4434840"/>
          </a:xfrm>
          <a:prstGeom prst="roundRect">
            <a:avLst>
              <a:gd name="adj" fmla="val 1649"/>
            </a:avLst>
          </a:prstGeom>
          <a:solidFill>
            <a:srgbClr val="07223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21408"/>
            <a:ext cx="104241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8F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4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langchain_openai 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8F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4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ChatOpenAI
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8F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4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langchain_core.prompts 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8F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4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ChatPromptTemplate
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8F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4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langchain_core.output_parsers 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8F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4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StrOutputParser
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8F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4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langchain_core.runnables 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8F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4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RunnablePassthrough
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2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8F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4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ChatPromptTemplate.from_template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2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
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"Answer using only this context:\n{context}\n\n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2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Question: {question}"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2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2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
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2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 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8F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4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ChatOpenAI(model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8F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"gpt-4o-mini"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2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
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2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rag_chain 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8F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(
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2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"context"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2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retriever, 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"question"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4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RunnablePassthrough()}
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2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 prompt | llm | StrOutputParser()
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2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
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2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 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8F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4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rag_chain.invoke(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"What is chunk overlap?"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2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Session — LangChain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FURTHER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RAG Techniques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retrieval isn't always enough. These techniques sharpen precision and recall.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5F8FA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2359152"/>
            <a:ext cx="566928" cy="566928"/>
          </a:xfrm>
          <a:prstGeom prst="ellipse">
            <a:avLst/>
          </a:prstGeom>
          <a:solidFill>
            <a:srgbClr val="0B3D62"/>
          </a:solidFill>
          <a:ln/>
        </p:spPr>
      </p:sp>
      <p:pic>
        <p:nvPicPr>
          <p:cNvPr id="7" name="Image 0" descr="/home/claude/rag_deck/icons/fil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735" y="2495215"/>
            <a:ext cx="294803" cy="2948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30428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554480" y="2724912"/>
            <a:ext cx="4206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more candidates than needed, then use a cross-encoder to reorder them by true relevance before passing to the LLM.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309360" y="210312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5F8FA"/>
          </a:solidFill>
          <a:ln/>
        </p:spPr>
      </p:sp>
      <p:sp>
        <p:nvSpPr>
          <p:cNvPr id="11" name="Shape 8"/>
          <p:cNvSpPr/>
          <p:nvPr/>
        </p:nvSpPr>
        <p:spPr>
          <a:xfrm>
            <a:off x="6565392" y="235915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/home/claude/rag_deck/icons/rando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1455" y="2495215"/>
            <a:ext cx="294803" cy="29480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15200" y="230428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7315200" y="2724912"/>
            <a:ext cx="4206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keyword search (BM25) with vector similarity — catches exact terms embeddings sometimes miss.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4325112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5F8FA"/>
          </a:solidFill>
          <a:ln/>
        </p:spPr>
      </p:sp>
      <p:sp>
        <p:nvSpPr>
          <p:cNvPr id="16" name="Shape 12"/>
          <p:cNvSpPr/>
          <p:nvPr/>
        </p:nvSpPr>
        <p:spPr>
          <a:xfrm>
            <a:off x="804672" y="4581144"/>
            <a:ext cx="566928" cy="566928"/>
          </a:xfrm>
          <a:prstGeom prst="ellipse">
            <a:avLst/>
          </a:prstGeom>
          <a:solidFill>
            <a:srgbClr val="0B3D62"/>
          </a:solidFill>
          <a:ln/>
        </p:spPr>
      </p:sp>
      <p:pic>
        <p:nvPicPr>
          <p:cNvPr id="17" name="Image 2" descr="/home/claude/rag_deck/icons/syn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735" y="4717207"/>
            <a:ext cx="294803" cy="29480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54480" y="45262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Rewriting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1554480" y="4946904"/>
            <a:ext cx="4206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the LLM rephrase or expand a vague user question into one or more sharper search queries first.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309360" y="4325112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5F8FA"/>
          </a:solidFill>
          <a:ln/>
        </p:spPr>
      </p:sp>
      <p:sp>
        <p:nvSpPr>
          <p:cNvPr id="21" name="Shape 16"/>
          <p:cNvSpPr/>
          <p:nvPr/>
        </p:nvSpPr>
        <p:spPr>
          <a:xfrm>
            <a:off x="6565392" y="4581144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3" descr="/home/claude/rag_deck/icons/puzz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1455" y="4717207"/>
            <a:ext cx="294803" cy="29480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15200" y="45262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Multi-Query / RAG-Fusion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7315200" y="4946904"/>
            <a:ext cx="4206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several variations of the question, retrieve for each, and merge the results for broader coverage.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Session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RAG SHOWS 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Applications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0B3D62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2024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rag_deck/icons/comm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3303" y="2056303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6060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 Bots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297180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7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from live product docs &amp; policies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389120" y="16916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0B3D62"/>
          </a:solidFill>
          <a:ln/>
        </p:spPr>
      </p:sp>
      <p:sp>
        <p:nvSpPr>
          <p:cNvPr id="10" name="Shape 7"/>
          <p:cNvSpPr/>
          <p:nvPr/>
        </p:nvSpPr>
        <p:spPr>
          <a:xfrm>
            <a:off x="4617720" y="192024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rag_deck/icons/filea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3783" y="2056303"/>
            <a:ext cx="294803" cy="294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26060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Q&amp;A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617720" y="297180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7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with contracts, research papers, manuals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229600" y="16916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0B3D62"/>
          </a:solidFill>
          <a:ln/>
        </p:spPr>
      </p:sp>
      <p:sp>
        <p:nvSpPr>
          <p:cNvPr id="15" name="Shape 11"/>
          <p:cNvSpPr/>
          <p:nvPr/>
        </p:nvSpPr>
        <p:spPr>
          <a:xfrm>
            <a:off x="8458200" y="192024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/home/claude/rag_deck/icons/heads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4263" y="2056303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58200" y="26060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Knowledge Search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458200" y="297180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7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wikis, HR policies, runbooks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48640" y="370332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0B3D62"/>
          </a:solidFill>
          <a:ln/>
        </p:spPr>
      </p:sp>
      <p:sp>
        <p:nvSpPr>
          <p:cNvPr id="20" name="Shape 15"/>
          <p:cNvSpPr/>
          <p:nvPr/>
        </p:nvSpPr>
        <p:spPr>
          <a:xfrm>
            <a:off x="777240" y="393192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/home/claude/rag_deck/icons/laptopcod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303" y="4067983"/>
            <a:ext cx="294803" cy="29480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46177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Assistants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77240" y="498348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7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relevant code &amp; API docs while coding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389120" y="370332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0B3D62"/>
          </a:solidFill>
          <a:ln/>
        </p:spPr>
      </p:sp>
      <p:sp>
        <p:nvSpPr>
          <p:cNvPr id="25" name="Shape 19"/>
          <p:cNvSpPr/>
          <p:nvPr/>
        </p:nvSpPr>
        <p:spPr>
          <a:xfrm>
            <a:off x="4617720" y="393192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4" descr="/home/claude/rag_deck/icons/bookop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3783" y="4067983"/>
            <a:ext cx="294803" cy="29480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17720" y="46177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Assistants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617720" y="498348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7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and cite across many papers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8229600" y="370332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0B3D62"/>
          </a:solidFill>
          <a:ln/>
        </p:spPr>
      </p:sp>
      <p:sp>
        <p:nvSpPr>
          <p:cNvPr id="30" name="Shape 23"/>
          <p:cNvSpPr/>
          <p:nvPr/>
        </p:nvSpPr>
        <p:spPr>
          <a:xfrm>
            <a:off x="8458200" y="393192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5" descr="/home/claude/rag_deck/icons/sca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4263" y="4067983"/>
            <a:ext cx="294803" cy="29480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58200" y="46177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/ Compliance Review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458200" y="498348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7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answers in exact regulatory text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Session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Lab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small RAG app over a PDF of your choice, using LangChain + Chroma.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1064240" cy="530352"/>
          </a:xfrm>
          <a:prstGeom prst="roundRect">
            <a:avLst>
              <a:gd name="adj" fmla="val 10345"/>
            </a:avLst>
          </a:prstGeom>
          <a:solidFill>
            <a:srgbClr val="F5F8FA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2084832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20848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2011680"/>
            <a:ext cx="10149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 PDF with PyPDFLoader and inspect the extracted text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670048"/>
            <a:ext cx="110642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713232" y="274320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2743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80160" y="2670048"/>
            <a:ext cx="10149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it with RecursiveCharacterTextSplitter — try 2 chunk sizes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328416"/>
            <a:ext cx="11064240" cy="530352"/>
          </a:xfrm>
          <a:prstGeom prst="roundRect">
            <a:avLst>
              <a:gd name="adj" fmla="val 10345"/>
            </a:avLst>
          </a:prstGeom>
          <a:solidFill>
            <a:srgbClr val="F5F8FA"/>
          </a:solidFill>
          <a:ln/>
        </p:spPr>
      </p:sp>
      <p:sp>
        <p:nvSpPr>
          <p:cNvPr id="14" name="Shape 12"/>
          <p:cNvSpPr/>
          <p:nvPr/>
        </p:nvSpPr>
        <p:spPr>
          <a:xfrm>
            <a:off x="713232" y="340156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" y="34015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80160" y="3328416"/>
            <a:ext cx="10149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the chunks and store them in a local Chroma database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986784"/>
            <a:ext cx="110642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713232" y="405993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" y="40599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80160" y="3986784"/>
            <a:ext cx="10149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retriever and print the top-3 chunks for a test question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645152"/>
            <a:ext cx="11064240" cy="530352"/>
          </a:xfrm>
          <a:prstGeom prst="roundRect">
            <a:avLst>
              <a:gd name="adj" fmla="val 10345"/>
            </a:avLst>
          </a:prstGeom>
          <a:solidFill>
            <a:srgbClr val="F5F8FA"/>
          </a:solidFill>
          <a:ln/>
        </p:spPr>
      </p:sp>
      <p:sp>
        <p:nvSpPr>
          <p:cNvPr id="22" name="Shape 20"/>
          <p:cNvSpPr/>
          <p:nvPr/>
        </p:nvSpPr>
        <p:spPr>
          <a:xfrm>
            <a:off x="713232" y="4718304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" y="47183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80160" y="4645152"/>
            <a:ext cx="10149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the retriever + prompt + LLM into one LCEL chain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5303520"/>
            <a:ext cx="110642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713232" y="5376672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713232" y="53766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80160" y="5303520"/>
            <a:ext cx="10149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3 questions the document actually answers — and 1 it doesn't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Session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2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280160"/>
            <a:ext cx="4206240" cy="4206240"/>
          </a:xfrm>
          <a:prstGeom prst="ellipse">
            <a:avLst/>
          </a:prstGeom>
          <a:solidFill>
            <a:srgbClr val="0B3D62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9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in One Slide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2167128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rag_deck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212848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214884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5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grounds an LLM's answers in retrieved, up-to-date, or private documents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22960" y="2825496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1" descr="/home/claude/rag_deck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871216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280720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5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phases: index once offline, retrieve + generate on every query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822960" y="3483864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2" descr="/home/claude/rag_deck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529584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25880" y="3465576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5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+ a vector store make similarity search fast at scale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822960" y="4142232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3" descr="/home/claude/rag_deck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187952"/>
            <a:ext cx="201168" cy="2011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25880" y="4123944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5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gives you interchangeable loaders, splitters, retrievers &amp; chains</a:t>
            </a:r>
            <a:endParaRPr lang="en-US" sz="1450" dirty="0"/>
          </a:p>
        </p:txBody>
      </p:sp>
      <p:sp>
        <p:nvSpPr>
          <p:cNvPr id="17" name="Shape 11"/>
          <p:cNvSpPr/>
          <p:nvPr/>
        </p:nvSpPr>
        <p:spPr>
          <a:xfrm>
            <a:off x="822960" y="4800600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4" descr="/home/claude/rag_deck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846320"/>
            <a:ext cx="201168" cy="20116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325880" y="4782312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5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retrieval (reranking, hybrid search) beats a bigger prompt every time</a:t>
            </a:r>
            <a:endParaRPr lang="en-US" sz="1450" dirty="0"/>
          </a:p>
        </p:txBody>
      </p:sp>
      <p:sp>
        <p:nvSpPr>
          <p:cNvPr id="20" name="Text 13"/>
          <p:cNvSpPr/>
          <p:nvPr/>
        </p:nvSpPr>
        <p:spPr>
          <a:xfrm>
            <a:off x="822960" y="5989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7D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2026-08-10T12:01:10Z</dcterms:created>
  <dcterms:modified xsi:type="dcterms:W3CDTF">2026-08-10T12:01:10Z</dcterms:modified>
</cp:coreProperties>
</file>